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Times New Roman Bold" panose="02020803070505020304" pitchFamily="18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chive.ics.uci.edu/dataset/228/sms+spam+collection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63626" y="1621617"/>
            <a:ext cx="753561" cy="7535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680379" y="8468839"/>
            <a:ext cx="1578921" cy="157892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13673" y="1867615"/>
            <a:ext cx="7745627" cy="7390685"/>
          </a:xfrm>
          <a:custGeom>
            <a:avLst/>
            <a:gdLst/>
            <a:ahLst/>
            <a:cxnLst/>
            <a:rect l="l" t="t" r="r" b="b"/>
            <a:pathLst>
              <a:path w="7745627" h="7390685">
                <a:moveTo>
                  <a:pt x="0" y="0"/>
                </a:moveTo>
                <a:lnTo>
                  <a:pt x="7745627" y="0"/>
                </a:lnTo>
                <a:lnTo>
                  <a:pt x="7745627" y="7390685"/>
                </a:lnTo>
                <a:lnTo>
                  <a:pt x="0" y="7390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898322">
            <a:off x="16412735" y="-4086964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0"/>
            <a:ext cx="2071537" cy="2030106"/>
          </a:xfrm>
          <a:custGeom>
            <a:avLst/>
            <a:gdLst/>
            <a:ahLst/>
            <a:cxnLst/>
            <a:rect l="l" t="t" r="r" b="b"/>
            <a:pathLst>
              <a:path w="2071537" h="2030106">
                <a:moveTo>
                  <a:pt x="0" y="0"/>
                </a:moveTo>
                <a:lnTo>
                  <a:pt x="2071537" y="0"/>
                </a:lnTo>
                <a:lnTo>
                  <a:pt x="2071537" y="2030106"/>
                </a:lnTo>
                <a:lnTo>
                  <a:pt x="0" y="2030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67131" y="3666796"/>
            <a:ext cx="10072534" cy="1744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68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28700" y="6868301"/>
            <a:ext cx="7173539" cy="582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330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Members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4018" y="4068044"/>
            <a:ext cx="11489042" cy="2055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0"/>
              </a:lnSpc>
              <a:spcBef>
                <a:spcPct val="0"/>
              </a:spcBef>
            </a:pPr>
            <a:r>
              <a:rPr lang="en-US" sz="419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SpamShield AI</a:t>
            </a:r>
          </a:p>
          <a:p>
            <a:pPr algn="l">
              <a:lnSpc>
                <a:spcPts val="4610"/>
              </a:lnSpc>
              <a:spcBef>
                <a:spcPct val="0"/>
              </a:spcBef>
            </a:pPr>
            <a:r>
              <a:rPr lang="en-US" sz="329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Learning-Based SMS Spam Detection and Evaluation</a:t>
            </a:r>
          </a:p>
          <a:p>
            <a:pPr algn="l">
              <a:lnSpc>
                <a:spcPts val="5870"/>
              </a:lnSpc>
              <a:spcBef>
                <a:spcPct val="0"/>
              </a:spcBef>
            </a:pPr>
            <a:endParaRPr lang="en-US" sz="3293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7600648"/>
            <a:ext cx="5689839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ADITYA BANERJEE(MT/AI/10006/26)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SUMIT SHARMA(MT/AI/10031/26)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21613" y="2356128"/>
            <a:ext cx="856357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M.TECH CSE (AI &amp; ML)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44953" y="2424653"/>
            <a:ext cx="7659035" cy="881742"/>
            <a:chOff x="0" y="0"/>
            <a:chExt cx="2017194" cy="2322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7194" cy="232228"/>
            </a:xfrm>
            <a:custGeom>
              <a:avLst/>
              <a:gdLst/>
              <a:ahLst/>
              <a:cxnLst/>
              <a:rect l="l" t="t" r="r" b="b"/>
              <a:pathLst>
                <a:path w="2017194" h="232228">
                  <a:moveTo>
                    <a:pt x="0" y="0"/>
                  </a:moveTo>
                  <a:lnTo>
                    <a:pt x="2017194" y="0"/>
                  </a:lnTo>
                  <a:lnTo>
                    <a:pt x="2017194" y="232228"/>
                  </a:lnTo>
                  <a:lnTo>
                    <a:pt x="0" y="232228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017194" cy="251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44953" y="1911448"/>
            <a:ext cx="7659035" cy="777589"/>
            <a:chOff x="0" y="0"/>
            <a:chExt cx="2017194" cy="2047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7194" cy="204797"/>
            </a:xfrm>
            <a:custGeom>
              <a:avLst/>
              <a:gdLst/>
              <a:ahLst/>
              <a:cxnLst/>
              <a:rect l="l" t="t" r="r" b="b"/>
              <a:pathLst>
                <a:path w="2017194" h="204797">
                  <a:moveTo>
                    <a:pt x="51552" y="0"/>
                  </a:moveTo>
                  <a:lnTo>
                    <a:pt x="1965642" y="0"/>
                  </a:lnTo>
                  <a:cubicBezTo>
                    <a:pt x="1979315" y="0"/>
                    <a:pt x="1992427" y="5431"/>
                    <a:pt x="2002095" y="15099"/>
                  </a:cubicBezTo>
                  <a:cubicBezTo>
                    <a:pt x="2011763" y="24767"/>
                    <a:pt x="2017194" y="37879"/>
                    <a:pt x="2017194" y="51552"/>
                  </a:cubicBezTo>
                  <a:lnTo>
                    <a:pt x="2017194" y="153245"/>
                  </a:lnTo>
                  <a:cubicBezTo>
                    <a:pt x="2017194" y="166918"/>
                    <a:pt x="2011763" y="180030"/>
                    <a:pt x="2002095" y="189698"/>
                  </a:cubicBezTo>
                  <a:cubicBezTo>
                    <a:pt x="1992427" y="199366"/>
                    <a:pt x="1979315" y="204797"/>
                    <a:pt x="1965642" y="204797"/>
                  </a:cubicBezTo>
                  <a:lnTo>
                    <a:pt x="51552" y="204797"/>
                  </a:lnTo>
                  <a:cubicBezTo>
                    <a:pt x="37879" y="204797"/>
                    <a:pt x="24767" y="199366"/>
                    <a:pt x="15099" y="189698"/>
                  </a:cubicBezTo>
                  <a:cubicBezTo>
                    <a:pt x="5431" y="180030"/>
                    <a:pt x="0" y="166918"/>
                    <a:pt x="0" y="153245"/>
                  </a:cubicBezTo>
                  <a:lnTo>
                    <a:pt x="0" y="51552"/>
                  </a:lnTo>
                  <a:cubicBezTo>
                    <a:pt x="0" y="37879"/>
                    <a:pt x="5431" y="24767"/>
                    <a:pt x="15099" y="15099"/>
                  </a:cubicBezTo>
                  <a:cubicBezTo>
                    <a:pt x="24767" y="5431"/>
                    <a:pt x="37879" y="0"/>
                    <a:pt x="51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17194" cy="223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44953" y="1911448"/>
            <a:ext cx="7659035" cy="7822577"/>
            <a:chOff x="0" y="0"/>
            <a:chExt cx="2017194" cy="20602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17194" cy="2060267"/>
            </a:xfrm>
            <a:custGeom>
              <a:avLst/>
              <a:gdLst/>
              <a:ahLst/>
              <a:cxnLst/>
              <a:rect l="l" t="t" r="r" b="b"/>
              <a:pathLst>
                <a:path w="2017194" h="2060267">
                  <a:moveTo>
                    <a:pt x="51552" y="0"/>
                  </a:moveTo>
                  <a:lnTo>
                    <a:pt x="1965642" y="0"/>
                  </a:lnTo>
                  <a:cubicBezTo>
                    <a:pt x="1979315" y="0"/>
                    <a:pt x="1992427" y="5431"/>
                    <a:pt x="2002095" y="15099"/>
                  </a:cubicBezTo>
                  <a:cubicBezTo>
                    <a:pt x="2011763" y="24767"/>
                    <a:pt x="2017194" y="37879"/>
                    <a:pt x="2017194" y="51552"/>
                  </a:cubicBezTo>
                  <a:lnTo>
                    <a:pt x="2017194" y="2008715"/>
                  </a:lnTo>
                  <a:cubicBezTo>
                    <a:pt x="2017194" y="2022388"/>
                    <a:pt x="2011763" y="2035500"/>
                    <a:pt x="2002095" y="2045168"/>
                  </a:cubicBezTo>
                  <a:cubicBezTo>
                    <a:pt x="1992427" y="2054836"/>
                    <a:pt x="1979315" y="2060267"/>
                    <a:pt x="1965642" y="2060267"/>
                  </a:cubicBezTo>
                  <a:lnTo>
                    <a:pt x="51552" y="2060267"/>
                  </a:lnTo>
                  <a:cubicBezTo>
                    <a:pt x="37879" y="2060267"/>
                    <a:pt x="24767" y="2054836"/>
                    <a:pt x="15099" y="2045168"/>
                  </a:cubicBezTo>
                  <a:cubicBezTo>
                    <a:pt x="5431" y="2035500"/>
                    <a:pt x="0" y="2022388"/>
                    <a:pt x="0" y="2008715"/>
                  </a:cubicBezTo>
                  <a:lnTo>
                    <a:pt x="0" y="51552"/>
                  </a:lnTo>
                  <a:cubicBezTo>
                    <a:pt x="0" y="37879"/>
                    <a:pt x="5431" y="24767"/>
                    <a:pt x="15099" y="15099"/>
                  </a:cubicBezTo>
                  <a:cubicBezTo>
                    <a:pt x="24767" y="5431"/>
                    <a:pt x="37879" y="0"/>
                    <a:pt x="51552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17194" cy="2079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052692" y="2195468"/>
            <a:ext cx="4449674" cy="67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Challenges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48472" y="3506420"/>
            <a:ext cx="6651996" cy="594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</a:t>
            </a:r>
            <a:r>
              <a:rPr lang="en-US" sz="2799" b="1" u="none" strike="noStrike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Message Patterns:</a:t>
            </a:r>
            <a:r>
              <a:rPr lang="en-US" sz="2799" u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Spam and legitimate messages may use similar words.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u="none" strike="noStrike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Errors: </a:t>
            </a:r>
            <a:r>
              <a:rPr lang="en-US" sz="2799" u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Spam may be missed, or genuine messages may be flagged.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u="none" strike="noStrike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Imbalanced Data:</a:t>
            </a:r>
            <a:r>
              <a:rPr lang="en-US" sz="2799" u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Legitimate messages greatly outnumber spam messages in our dataset.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u="none" strike="noStrike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Reliable Evaluation:</a:t>
            </a:r>
            <a:r>
              <a:rPr lang="en-US" sz="2799" u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Accuracy alone may not reveal how effectively spam is detected.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-35033"/>
            <a:ext cx="18288000" cy="1667861"/>
            <a:chOff x="0" y="0"/>
            <a:chExt cx="9414331" cy="8585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414331" cy="91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600373" y="122839"/>
            <a:ext cx="13739463" cy="129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76"/>
              </a:lnSpc>
              <a:spcBef>
                <a:spcPct val="0"/>
              </a:spcBef>
            </a:pPr>
            <a:r>
              <a:rPr lang="en-US" sz="734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</a:t>
            </a:r>
            <a:r>
              <a:rPr lang="en-US" sz="7340" b="1" u="none" strike="noStrik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roblem Definition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91018" y="1911448"/>
            <a:ext cx="8879086" cy="1026410"/>
            <a:chOff x="0" y="0"/>
            <a:chExt cx="2338525" cy="2703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38525" cy="270330"/>
            </a:xfrm>
            <a:custGeom>
              <a:avLst/>
              <a:gdLst/>
              <a:ahLst/>
              <a:cxnLst/>
              <a:rect l="l" t="t" r="r" b="b"/>
              <a:pathLst>
                <a:path w="2338525" h="270330">
                  <a:moveTo>
                    <a:pt x="44468" y="0"/>
                  </a:moveTo>
                  <a:lnTo>
                    <a:pt x="2294056" y="0"/>
                  </a:lnTo>
                  <a:cubicBezTo>
                    <a:pt x="2318616" y="0"/>
                    <a:pt x="2338525" y="19909"/>
                    <a:pt x="2338525" y="44468"/>
                  </a:cubicBezTo>
                  <a:lnTo>
                    <a:pt x="2338525" y="225862"/>
                  </a:lnTo>
                  <a:cubicBezTo>
                    <a:pt x="2338525" y="237656"/>
                    <a:pt x="2333840" y="248966"/>
                    <a:pt x="2325500" y="257306"/>
                  </a:cubicBezTo>
                  <a:cubicBezTo>
                    <a:pt x="2317161" y="265645"/>
                    <a:pt x="2305850" y="270330"/>
                    <a:pt x="2294056" y="270330"/>
                  </a:cubicBezTo>
                  <a:lnTo>
                    <a:pt x="44468" y="270330"/>
                  </a:lnTo>
                  <a:cubicBezTo>
                    <a:pt x="19909" y="270330"/>
                    <a:pt x="0" y="250421"/>
                    <a:pt x="0" y="225862"/>
                  </a:cubicBezTo>
                  <a:lnTo>
                    <a:pt x="0" y="44468"/>
                  </a:lnTo>
                  <a:cubicBezTo>
                    <a:pt x="0" y="32675"/>
                    <a:pt x="4685" y="21364"/>
                    <a:pt x="13024" y="13024"/>
                  </a:cubicBezTo>
                  <a:cubicBezTo>
                    <a:pt x="21364" y="4685"/>
                    <a:pt x="32675" y="0"/>
                    <a:pt x="444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338525" cy="289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1018" y="1911448"/>
            <a:ext cx="8879086" cy="7822577"/>
            <a:chOff x="0" y="0"/>
            <a:chExt cx="2338525" cy="20602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38525" cy="2060267"/>
            </a:xfrm>
            <a:custGeom>
              <a:avLst/>
              <a:gdLst/>
              <a:ahLst/>
              <a:cxnLst/>
              <a:rect l="l" t="t" r="r" b="b"/>
              <a:pathLst>
                <a:path w="2338525" h="2060267">
                  <a:moveTo>
                    <a:pt x="44468" y="0"/>
                  </a:moveTo>
                  <a:lnTo>
                    <a:pt x="2294056" y="0"/>
                  </a:lnTo>
                  <a:cubicBezTo>
                    <a:pt x="2318616" y="0"/>
                    <a:pt x="2338525" y="19909"/>
                    <a:pt x="2338525" y="44468"/>
                  </a:cubicBezTo>
                  <a:lnTo>
                    <a:pt x="2338525" y="2015799"/>
                  </a:lnTo>
                  <a:cubicBezTo>
                    <a:pt x="2338525" y="2027593"/>
                    <a:pt x="2333840" y="2038903"/>
                    <a:pt x="2325500" y="2047243"/>
                  </a:cubicBezTo>
                  <a:cubicBezTo>
                    <a:pt x="2317161" y="2055582"/>
                    <a:pt x="2305850" y="2060267"/>
                    <a:pt x="2294056" y="2060267"/>
                  </a:cubicBezTo>
                  <a:lnTo>
                    <a:pt x="44468" y="2060267"/>
                  </a:lnTo>
                  <a:cubicBezTo>
                    <a:pt x="32675" y="2060267"/>
                    <a:pt x="21364" y="2055582"/>
                    <a:pt x="13024" y="2047243"/>
                  </a:cubicBezTo>
                  <a:cubicBezTo>
                    <a:pt x="4685" y="2038903"/>
                    <a:pt x="0" y="2027593"/>
                    <a:pt x="0" y="2015799"/>
                  </a:cubicBezTo>
                  <a:lnTo>
                    <a:pt x="0" y="44468"/>
                  </a:lnTo>
                  <a:cubicBezTo>
                    <a:pt x="0" y="32675"/>
                    <a:pt x="4685" y="21364"/>
                    <a:pt x="13024" y="13024"/>
                  </a:cubicBezTo>
                  <a:cubicBezTo>
                    <a:pt x="21364" y="4685"/>
                    <a:pt x="32675" y="0"/>
                    <a:pt x="44468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338525" cy="2079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1018" y="2424653"/>
            <a:ext cx="8879086" cy="881742"/>
            <a:chOff x="0" y="0"/>
            <a:chExt cx="2338525" cy="2322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38525" cy="232228"/>
            </a:xfrm>
            <a:custGeom>
              <a:avLst/>
              <a:gdLst/>
              <a:ahLst/>
              <a:cxnLst/>
              <a:rect l="l" t="t" r="r" b="b"/>
              <a:pathLst>
                <a:path w="2338525" h="232228">
                  <a:moveTo>
                    <a:pt x="0" y="0"/>
                  </a:moveTo>
                  <a:lnTo>
                    <a:pt x="2338525" y="0"/>
                  </a:lnTo>
                  <a:lnTo>
                    <a:pt x="2338525" y="232228"/>
                  </a:lnTo>
                  <a:lnTo>
                    <a:pt x="0" y="232228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338525" cy="251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31150" y="2107344"/>
            <a:ext cx="860202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in SMS Spam Detection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3848" y="3496895"/>
            <a:ext cx="8220152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Unwanted Messages: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Promotional SMS and misleading offers clutter users' inboxes.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Security Risks: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Phishing attempts and suspicious links may deceive users.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Manual Screening: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Checking messages individually is time-consuming.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Ambiguous Text: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Short messages can be difficult to classify from their wording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3914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414331" cy="91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6719" y="1582423"/>
            <a:ext cx="10904604" cy="7675877"/>
            <a:chOff x="0" y="0"/>
            <a:chExt cx="4620681" cy="32525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20681" cy="3252551"/>
            </a:xfrm>
            <a:custGeom>
              <a:avLst/>
              <a:gdLst/>
              <a:ahLst/>
              <a:cxnLst/>
              <a:rect l="l" t="t" r="r" b="b"/>
              <a:pathLst>
                <a:path w="4620681" h="3252551">
                  <a:moveTo>
                    <a:pt x="16329" y="0"/>
                  </a:moveTo>
                  <a:lnTo>
                    <a:pt x="4604352" y="0"/>
                  </a:lnTo>
                  <a:cubicBezTo>
                    <a:pt x="4613370" y="0"/>
                    <a:pt x="4620681" y="7311"/>
                    <a:pt x="4620681" y="16329"/>
                  </a:cubicBezTo>
                  <a:lnTo>
                    <a:pt x="4620681" y="3236222"/>
                  </a:lnTo>
                  <a:cubicBezTo>
                    <a:pt x="4620681" y="3240553"/>
                    <a:pt x="4618960" y="3244706"/>
                    <a:pt x="4615898" y="3247768"/>
                  </a:cubicBezTo>
                  <a:cubicBezTo>
                    <a:pt x="4612836" y="3250831"/>
                    <a:pt x="4608682" y="3252551"/>
                    <a:pt x="4604352" y="3252551"/>
                  </a:cubicBezTo>
                  <a:lnTo>
                    <a:pt x="16329" y="3252551"/>
                  </a:lnTo>
                  <a:cubicBezTo>
                    <a:pt x="7311" y="3252551"/>
                    <a:pt x="0" y="3245240"/>
                    <a:pt x="0" y="3236222"/>
                  </a:cubicBezTo>
                  <a:lnTo>
                    <a:pt x="0" y="16329"/>
                  </a:lnTo>
                  <a:cubicBezTo>
                    <a:pt x="0" y="11998"/>
                    <a:pt x="1720" y="7845"/>
                    <a:pt x="4783" y="4783"/>
                  </a:cubicBezTo>
                  <a:cubicBezTo>
                    <a:pt x="7845" y="1720"/>
                    <a:pt x="11998" y="0"/>
                    <a:pt x="163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620681" cy="33097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Automated SMS Classification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Classify incoming SMS messages as Ham (legitimate) or Spam.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Machine Learning-Based Detection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 and compare three classifiers: Naive Bayes, Logistic Regression, and Linear SVM using TF-IDF features.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 Multi-Metric Performance Evaluation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Compare the classifiers using Accuracy, Spam Recall, Macro-F1, Balanced Accuracy, and Matthews Correlation Coefficient (MCC).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 Explainable Predictions &amp; Model Comparison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Display spam probability estimates, compare predictions across models, and highlight agreement or disagreement between classifiers.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5. Error Analysis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Inspect false positives and false negatives to understand misclassifications and identify potential weaknesses.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6. Interactive Prototype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Provide a Streamlit interface for live SMS detection, model evaluation, dataset exploration, and prediction analysis.</a:t>
              </a:r>
            </a:p>
            <a:p>
              <a:pPr algn="l">
                <a:lnSpc>
                  <a:spcPts val="3359"/>
                </a:lnSpc>
              </a:pPr>
              <a:endPara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2024645" y="2437196"/>
            <a:ext cx="5234655" cy="6314326"/>
          </a:xfrm>
          <a:custGeom>
            <a:avLst/>
            <a:gdLst/>
            <a:ahLst/>
            <a:cxnLst/>
            <a:rect l="l" t="t" r="r" b="b"/>
            <a:pathLst>
              <a:path w="5234655" h="6314326">
                <a:moveTo>
                  <a:pt x="0" y="0"/>
                </a:moveTo>
                <a:lnTo>
                  <a:pt x="5234655" y="0"/>
                </a:lnTo>
                <a:lnTo>
                  <a:pt x="5234655" y="6314326"/>
                </a:lnTo>
                <a:lnTo>
                  <a:pt x="0" y="6314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2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08841" y="42735"/>
            <a:ext cx="10070318" cy="126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38"/>
              </a:lnSpc>
              <a:spcBef>
                <a:spcPct val="0"/>
              </a:spcBef>
            </a:pPr>
            <a:r>
              <a:rPr lang="en-US" sz="7170" b="1">
                <a:solidFill>
                  <a:srgbClr val="FEFEF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</a:t>
            </a:r>
            <a:r>
              <a:rPr lang="en-US" sz="7170" b="1" u="none" strike="noStrike">
                <a:solidFill>
                  <a:srgbClr val="FEFEF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Solution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9269952"/>
            <a:ext cx="16230600" cy="1017048"/>
            <a:chOff x="0" y="0"/>
            <a:chExt cx="4274726" cy="2678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74726" cy="267864"/>
            </a:xfrm>
            <a:custGeom>
              <a:avLst/>
              <a:gdLst/>
              <a:ahLst/>
              <a:cxnLst/>
              <a:rect l="l" t="t" r="r" b="b"/>
              <a:pathLst>
                <a:path w="4274726" h="267864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43538"/>
                  </a:lnTo>
                  <a:cubicBezTo>
                    <a:pt x="4274726" y="256973"/>
                    <a:pt x="4263834" y="267864"/>
                    <a:pt x="4250399" y="267864"/>
                  </a:cubicBezTo>
                  <a:lnTo>
                    <a:pt x="24327" y="267864"/>
                  </a:lnTo>
                  <a:cubicBezTo>
                    <a:pt x="10891" y="267864"/>
                    <a:pt x="0" y="256973"/>
                    <a:pt x="0" y="24353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4274726" cy="27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0101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Objective: Identify the best-performing classifier and investigate whether evaluation metrics change the model ranking.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5033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9414331" cy="953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1018" y="2629258"/>
            <a:ext cx="16668282" cy="1706323"/>
            <a:chOff x="0" y="0"/>
            <a:chExt cx="4390000" cy="4494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90000" cy="449402"/>
            </a:xfrm>
            <a:custGeom>
              <a:avLst/>
              <a:gdLst/>
              <a:ahLst/>
              <a:cxnLst/>
              <a:rect l="l" t="t" r="r" b="b"/>
              <a:pathLst>
                <a:path w="4390000" h="449402">
                  <a:moveTo>
                    <a:pt x="23688" y="0"/>
                  </a:moveTo>
                  <a:lnTo>
                    <a:pt x="4366312" y="0"/>
                  </a:lnTo>
                  <a:cubicBezTo>
                    <a:pt x="4379395" y="0"/>
                    <a:pt x="4390000" y="10605"/>
                    <a:pt x="4390000" y="23688"/>
                  </a:cubicBezTo>
                  <a:lnTo>
                    <a:pt x="4390000" y="425714"/>
                  </a:lnTo>
                  <a:cubicBezTo>
                    <a:pt x="4390000" y="431996"/>
                    <a:pt x="4387505" y="438022"/>
                    <a:pt x="4383062" y="442464"/>
                  </a:cubicBezTo>
                  <a:cubicBezTo>
                    <a:pt x="4378620" y="446906"/>
                    <a:pt x="4372595" y="449402"/>
                    <a:pt x="4366312" y="449402"/>
                  </a:cubicBezTo>
                  <a:lnTo>
                    <a:pt x="23688" y="449402"/>
                  </a:lnTo>
                  <a:cubicBezTo>
                    <a:pt x="17406" y="449402"/>
                    <a:pt x="11380" y="446906"/>
                    <a:pt x="6938" y="442464"/>
                  </a:cubicBezTo>
                  <a:cubicBezTo>
                    <a:pt x="2496" y="438022"/>
                    <a:pt x="0" y="431996"/>
                    <a:pt x="0" y="425714"/>
                  </a:cubicBezTo>
                  <a:lnTo>
                    <a:pt x="0" y="23688"/>
                  </a:lnTo>
                  <a:cubicBezTo>
                    <a:pt x="0" y="17406"/>
                    <a:pt x="2496" y="11380"/>
                    <a:pt x="6938" y="6938"/>
                  </a:cubicBezTo>
                  <a:cubicBezTo>
                    <a:pt x="11380" y="2496"/>
                    <a:pt x="17406" y="0"/>
                    <a:pt x="23688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390000" cy="46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5169" y="6070606"/>
            <a:ext cx="7741899" cy="2548107"/>
            <a:chOff x="0" y="0"/>
            <a:chExt cx="2039019" cy="6711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9019" cy="671106"/>
            </a:xfrm>
            <a:custGeom>
              <a:avLst/>
              <a:gdLst/>
              <a:ahLst/>
              <a:cxnLst/>
              <a:rect l="l" t="t" r="r" b="b"/>
              <a:pathLst>
                <a:path w="2039019" h="671106">
                  <a:moveTo>
                    <a:pt x="51000" y="0"/>
                  </a:moveTo>
                  <a:lnTo>
                    <a:pt x="1988019" y="0"/>
                  </a:lnTo>
                  <a:cubicBezTo>
                    <a:pt x="2001545" y="0"/>
                    <a:pt x="2014517" y="5373"/>
                    <a:pt x="2024081" y="14938"/>
                  </a:cubicBezTo>
                  <a:cubicBezTo>
                    <a:pt x="2033646" y="24502"/>
                    <a:pt x="2039019" y="37474"/>
                    <a:pt x="2039019" y="51000"/>
                  </a:cubicBezTo>
                  <a:lnTo>
                    <a:pt x="2039019" y="620106"/>
                  </a:lnTo>
                  <a:cubicBezTo>
                    <a:pt x="2039019" y="633632"/>
                    <a:pt x="2033646" y="646604"/>
                    <a:pt x="2024081" y="656169"/>
                  </a:cubicBezTo>
                  <a:cubicBezTo>
                    <a:pt x="2014517" y="665733"/>
                    <a:pt x="2001545" y="671106"/>
                    <a:pt x="1988019" y="671106"/>
                  </a:cubicBezTo>
                  <a:lnTo>
                    <a:pt x="51000" y="671106"/>
                  </a:lnTo>
                  <a:cubicBezTo>
                    <a:pt x="37474" y="671106"/>
                    <a:pt x="24502" y="665733"/>
                    <a:pt x="14938" y="656169"/>
                  </a:cubicBezTo>
                  <a:cubicBezTo>
                    <a:pt x="5373" y="646604"/>
                    <a:pt x="0" y="633632"/>
                    <a:pt x="0" y="620106"/>
                  </a:cubicBezTo>
                  <a:lnTo>
                    <a:pt x="0" y="51000"/>
                  </a:lnTo>
                  <a:cubicBezTo>
                    <a:pt x="0" y="37474"/>
                    <a:pt x="5373" y="24502"/>
                    <a:pt x="14938" y="14938"/>
                  </a:cubicBezTo>
                  <a:cubicBezTo>
                    <a:pt x="24502" y="5373"/>
                    <a:pt x="37474" y="0"/>
                    <a:pt x="5100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39019" cy="690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0101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Different evaluation metrics may rank classifiers differently, particularly on an imbalanced dataset</a:t>
              </a:r>
              <a:r>
                <a:rPr lang="en-US" sz="27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5169" y="4802306"/>
            <a:ext cx="7741899" cy="1469802"/>
            <a:chOff x="0" y="0"/>
            <a:chExt cx="2039019" cy="3871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019" cy="387108"/>
            </a:xfrm>
            <a:custGeom>
              <a:avLst/>
              <a:gdLst/>
              <a:ahLst/>
              <a:cxnLst/>
              <a:rect l="l" t="t" r="r" b="b"/>
              <a:pathLst>
                <a:path w="2039019" h="387108">
                  <a:moveTo>
                    <a:pt x="0" y="0"/>
                  </a:moveTo>
                  <a:lnTo>
                    <a:pt x="2039019" y="0"/>
                  </a:lnTo>
                  <a:lnTo>
                    <a:pt x="2039019" y="387108"/>
                  </a:lnTo>
                  <a:lnTo>
                    <a:pt x="0" y="387108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39019" cy="406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Alternate Hypothesis</a:t>
              </a:r>
            </a:p>
            <a:p>
              <a:pPr algn="ctr">
                <a:lnSpc>
                  <a:spcPts val="3359"/>
                </a:lnSpc>
              </a:pPr>
              <a:endPara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7401" y="4802306"/>
            <a:ext cx="7741899" cy="1469802"/>
            <a:chOff x="0" y="0"/>
            <a:chExt cx="2039019" cy="3871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9019" cy="387108"/>
            </a:xfrm>
            <a:custGeom>
              <a:avLst/>
              <a:gdLst/>
              <a:ahLst/>
              <a:cxnLst/>
              <a:rect l="l" t="t" r="r" b="b"/>
              <a:pathLst>
                <a:path w="2039019" h="387108">
                  <a:moveTo>
                    <a:pt x="0" y="0"/>
                  </a:moveTo>
                  <a:lnTo>
                    <a:pt x="2039019" y="0"/>
                  </a:lnTo>
                  <a:lnTo>
                    <a:pt x="2039019" y="387108"/>
                  </a:lnTo>
                  <a:lnTo>
                    <a:pt x="0" y="387108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039019" cy="406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Null Hypothesis</a:t>
              </a:r>
            </a:p>
            <a:p>
              <a:pPr algn="ctr">
                <a:lnSpc>
                  <a:spcPts val="3359"/>
                </a:lnSpc>
              </a:pPr>
              <a:endPara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7401" y="6059606"/>
            <a:ext cx="7741899" cy="2548107"/>
            <a:chOff x="0" y="0"/>
            <a:chExt cx="2039019" cy="6711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9019" cy="671106"/>
            </a:xfrm>
            <a:custGeom>
              <a:avLst/>
              <a:gdLst/>
              <a:ahLst/>
              <a:cxnLst/>
              <a:rect l="l" t="t" r="r" b="b"/>
              <a:pathLst>
                <a:path w="2039019" h="671106">
                  <a:moveTo>
                    <a:pt x="51000" y="0"/>
                  </a:moveTo>
                  <a:lnTo>
                    <a:pt x="1988019" y="0"/>
                  </a:lnTo>
                  <a:cubicBezTo>
                    <a:pt x="2001545" y="0"/>
                    <a:pt x="2014517" y="5373"/>
                    <a:pt x="2024081" y="14938"/>
                  </a:cubicBezTo>
                  <a:cubicBezTo>
                    <a:pt x="2033646" y="24502"/>
                    <a:pt x="2039019" y="37474"/>
                    <a:pt x="2039019" y="51000"/>
                  </a:cubicBezTo>
                  <a:lnTo>
                    <a:pt x="2039019" y="620106"/>
                  </a:lnTo>
                  <a:cubicBezTo>
                    <a:pt x="2039019" y="633632"/>
                    <a:pt x="2033646" y="646604"/>
                    <a:pt x="2024081" y="656169"/>
                  </a:cubicBezTo>
                  <a:cubicBezTo>
                    <a:pt x="2014517" y="665733"/>
                    <a:pt x="2001545" y="671106"/>
                    <a:pt x="1988019" y="671106"/>
                  </a:cubicBezTo>
                  <a:lnTo>
                    <a:pt x="51000" y="671106"/>
                  </a:lnTo>
                  <a:cubicBezTo>
                    <a:pt x="37474" y="671106"/>
                    <a:pt x="24502" y="665733"/>
                    <a:pt x="14938" y="656169"/>
                  </a:cubicBezTo>
                  <a:cubicBezTo>
                    <a:pt x="5373" y="646604"/>
                    <a:pt x="0" y="633632"/>
                    <a:pt x="0" y="620106"/>
                  </a:cubicBezTo>
                  <a:lnTo>
                    <a:pt x="0" y="51000"/>
                  </a:lnTo>
                  <a:cubicBezTo>
                    <a:pt x="0" y="37474"/>
                    <a:pt x="5373" y="24502"/>
                    <a:pt x="14938" y="14938"/>
                  </a:cubicBezTo>
                  <a:cubicBezTo>
                    <a:pt x="24502" y="5373"/>
                    <a:pt x="37474" y="0"/>
                    <a:pt x="5100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039019" cy="690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0101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choice of evaluation metric does not change the ranking of the classifiers.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223" y="8648352"/>
            <a:ext cx="16814131" cy="1388523"/>
            <a:chOff x="0" y="0"/>
            <a:chExt cx="4428413" cy="3657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28413" cy="365701"/>
            </a:xfrm>
            <a:custGeom>
              <a:avLst/>
              <a:gdLst/>
              <a:ahLst/>
              <a:cxnLst/>
              <a:rect l="l" t="t" r="r" b="b"/>
              <a:pathLst>
                <a:path w="4428413" h="365701">
                  <a:moveTo>
                    <a:pt x="23483" y="0"/>
                  </a:moveTo>
                  <a:lnTo>
                    <a:pt x="4404930" y="0"/>
                  </a:lnTo>
                  <a:cubicBezTo>
                    <a:pt x="4411159" y="0"/>
                    <a:pt x="4417131" y="2474"/>
                    <a:pt x="4421535" y="6878"/>
                  </a:cubicBezTo>
                  <a:cubicBezTo>
                    <a:pt x="4425939" y="11282"/>
                    <a:pt x="4428413" y="17255"/>
                    <a:pt x="4428413" y="23483"/>
                  </a:cubicBezTo>
                  <a:lnTo>
                    <a:pt x="4428413" y="342219"/>
                  </a:lnTo>
                  <a:cubicBezTo>
                    <a:pt x="4428413" y="348447"/>
                    <a:pt x="4425939" y="354420"/>
                    <a:pt x="4421535" y="358824"/>
                  </a:cubicBezTo>
                  <a:cubicBezTo>
                    <a:pt x="4417131" y="363227"/>
                    <a:pt x="4411159" y="365701"/>
                    <a:pt x="4404930" y="365701"/>
                  </a:cubicBezTo>
                  <a:lnTo>
                    <a:pt x="23483" y="365701"/>
                  </a:lnTo>
                  <a:cubicBezTo>
                    <a:pt x="17255" y="365701"/>
                    <a:pt x="11282" y="363227"/>
                    <a:pt x="6878" y="358824"/>
                  </a:cubicBezTo>
                  <a:cubicBezTo>
                    <a:pt x="2474" y="354420"/>
                    <a:pt x="0" y="348447"/>
                    <a:pt x="0" y="342219"/>
                  </a:cubicBezTo>
                  <a:lnTo>
                    <a:pt x="0" y="23483"/>
                  </a:lnTo>
                  <a:cubicBezTo>
                    <a:pt x="0" y="17255"/>
                    <a:pt x="2474" y="11282"/>
                    <a:pt x="6878" y="6878"/>
                  </a:cubicBezTo>
                  <a:cubicBezTo>
                    <a:pt x="11282" y="2474"/>
                    <a:pt x="17255" y="0"/>
                    <a:pt x="23483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4428413" cy="3752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0101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Evaluation Metrics</a:t>
              </a:r>
            </a:p>
            <a:p>
              <a:pPr algn="ctr">
                <a:lnSpc>
                  <a:spcPts val="2999"/>
                </a:lnSpc>
              </a:pPr>
              <a:endParaRPr lang="en-US" sz="2499" b="1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999"/>
                </a:lnSpc>
              </a:pPr>
              <a:endParaRPr lang="en-US" sz="2499" b="1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23" name="Freeform 23"/>
          <p:cNvSpPr/>
          <p:nvPr/>
        </p:nvSpPr>
        <p:spPr>
          <a:xfrm>
            <a:off x="692107" y="9384368"/>
            <a:ext cx="2380506" cy="406962"/>
          </a:xfrm>
          <a:custGeom>
            <a:avLst/>
            <a:gdLst/>
            <a:ahLst/>
            <a:cxnLst/>
            <a:rect l="l" t="t" r="r" b="b"/>
            <a:pathLst>
              <a:path w="2629202" h="509123">
                <a:moveTo>
                  <a:pt x="0" y="0"/>
                </a:moveTo>
                <a:lnTo>
                  <a:pt x="2629201" y="0"/>
                </a:lnTo>
                <a:lnTo>
                  <a:pt x="2629201" y="509123"/>
                </a:lnTo>
                <a:lnTo>
                  <a:pt x="0" y="50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4" name="TextBox 24"/>
          <p:cNvSpPr txBox="1"/>
          <p:nvPr/>
        </p:nvSpPr>
        <p:spPr>
          <a:xfrm>
            <a:off x="2600373" y="132364"/>
            <a:ext cx="12375831" cy="121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8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Question &amp; Hypothesis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863294"/>
            <a:ext cx="15603964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Does the choice of evaluation metric change which machine learning model appears best for SMS spam detection?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0" y="1835768"/>
            <a:ext cx="625813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gradFill>
                  <a:gsLst>
                    <a:gs pos="0">
                      <a:srgbClr val="F600FE">
                        <a:alpha val="100000"/>
                      </a:srgbClr>
                    </a:gs>
                    <a:gs pos="25000">
                      <a:srgbClr val="C900FE">
                        <a:alpha val="100000"/>
                      </a:srgbClr>
                    </a:gs>
                    <a:gs pos="50000">
                      <a:srgbClr val="A136FF">
                        <a:alpha val="100000"/>
                      </a:srgbClr>
                    </a:gs>
                    <a:gs pos="75000">
                      <a:srgbClr val="5142F0">
                        <a:alpha val="100000"/>
                      </a:srgbClr>
                    </a:gs>
                    <a:gs pos="100000">
                      <a:srgbClr val="0033D9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QUESTION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3628937" y="9342613"/>
            <a:ext cx="2629202" cy="509123"/>
          </a:xfrm>
          <a:custGeom>
            <a:avLst/>
            <a:gdLst/>
            <a:ahLst/>
            <a:cxnLst/>
            <a:rect l="l" t="t" r="r" b="b"/>
            <a:pathLst>
              <a:path w="2629202" h="509123">
                <a:moveTo>
                  <a:pt x="0" y="0"/>
                </a:moveTo>
                <a:lnTo>
                  <a:pt x="2629201" y="0"/>
                </a:lnTo>
                <a:lnTo>
                  <a:pt x="2629201" y="509123"/>
                </a:lnTo>
                <a:lnTo>
                  <a:pt x="0" y="50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565767" y="9342613"/>
            <a:ext cx="2629202" cy="509123"/>
          </a:xfrm>
          <a:custGeom>
            <a:avLst/>
            <a:gdLst/>
            <a:ahLst/>
            <a:cxnLst/>
            <a:rect l="l" t="t" r="r" b="b"/>
            <a:pathLst>
              <a:path w="2629202" h="509123">
                <a:moveTo>
                  <a:pt x="0" y="0"/>
                </a:moveTo>
                <a:lnTo>
                  <a:pt x="2629201" y="0"/>
                </a:lnTo>
                <a:lnTo>
                  <a:pt x="2629201" y="509123"/>
                </a:lnTo>
                <a:lnTo>
                  <a:pt x="0" y="50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502597" y="9342613"/>
            <a:ext cx="2629202" cy="509123"/>
          </a:xfrm>
          <a:custGeom>
            <a:avLst/>
            <a:gdLst/>
            <a:ahLst/>
            <a:cxnLst/>
            <a:rect l="l" t="t" r="r" b="b"/>
            <a:pathLst>
              <a:path w="2629202" h="509123">
                <a:moveTo>
                  <a:pt x="0" y="0"/>
                </a:moveTo>
                <a:lnTo>
                  <a:pt x="2629201" y="0"/>
                </a:lnTo>
                <a:lnTo>
                  <a:pt x="2629201" y="509123"/>
                </a:lnTo>
                <a:lnTo>
                  <a:pt x="0" y="50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439427" y="9342613"/>
            <a:ext cx="2629202" cy="509123"/>
          </a:xfrm>
          <a:custGeom>
            <a:avLst/>
            <a:gdLst/>
            <a:ahLst/>
            <a:cxnLst/>
            <a:rect l="l" t="t" r="r" b="b"/>
            <a:pathLst>
              <a:path w="2629202" h="509123">
                <a:moveTo>
                  <a:pt x="0" y="0"/>
                </a:moveTo>
                <a:lnTo>
                  <a:pt x="2629201" y="0"/>
                </a:lnTo>
                <a:lnTo>
                  <a:pt x="2629201" y="509123"/>
                </a:lnTo>
                <a:lnTo>
                  <a:pt x="0" y="50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92646" y="9425725"/>
            <a:ext cx="142888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Accuracy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0948" y="9425725"/>
            <a:ext cx="142517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Spam Recall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63037" y="9425725"/>
            <a:ext cx="12553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Macro F1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76709" y="9425725"/>
            <a:ext cx="235508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Balanced Accuracy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03671" y="9425725"/>
            <a:ext cx="109812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3914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414331" cy="91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8133" y="1965580"/>
            <a:ext cx="17177026" cy="2608947"/>
            <a:chOff x="0" y="0"/>
            <a:chExt cx="4523990" cy="6871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23990" cy="687130"/>
            </a:xfrm>
            <a:custGeom>
              <a:avLst/>
              <a:gdLst/>
              <a:ahLst/>
              <a:cxnLst/>
              <a:rect l="l" t="t" r="r" b="b"/>
              <a:pathLst>
                <a:path w="4523990" h="687130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676764"/>
                  </a:lnTo>
                  <a:cubicBezTo>
                    <a:pt x="4523990" y="679513"/>
                    <a:pt x="4522898" y="682150"/>
                    <a:pt x="4520954" y="684094"/>
                  </a:cubicBezTo>
                  <a:cubicBezTo>
                    <a:pt x="4519010" y="686038"/>
                    <a:pt x="4516373" y="687130"/>
                    <a:pt x="4513624" y="687130"/>
                  </a:cubicBezTo>
                  <a:lnTo>
                    <a:pt x="10366" y="687130"/>
                  </a:lnTo>
                  <a:cubicBezTo>
                    <a:pt x="7617" y="687130"/>
                    <a:pt x="4980" y="686038"/>
                    <a:pt x="3036" y="684094"/>
                  </a:cubicBezTo>
                  <a:cubicBezTo>
                    <a:pt x="1092" y="682150"/>
                    <a:pt x="0" y="679513"/>
                    <a:pt x="0" y="676764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523990" cy="753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6408" y="4063015"/>
            <a:ext cx="3262874" cy="1023025"/>
            <a:chOff x="0" y="0"/>
            <a:chExt cx="1523174" cy="4775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3174" cy="477568"/>
            </a:xfrm>
            <a:custGeom>
              <a:avLst/>
              <a:gdLst/>
              <a:ahLst/>
              <a:cxnLst/>
              <a:rect l="l" t="t" r="r" b="b"/>
              <a:pathLst>
                <a:path w="1523174" h="4775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422995"/>
                  </a:lnTo>
                  <a:cubicBezTo>
                    <a:pt x="1523174" y="453135"/>
                    <a:pt x="1498741" y="477568"/>
                    <a:pt x="1468601" y="477568"/>
                  </a:cubicBezTo>
                  <a:lnTo>
                    <a:pt x="54573" y="477568"/>
                  </a:lnTo>
                  <a:cubicBezTo>
                    <a:pt x="40099" y="477568"/>
                    <a:pt x="26218" y="471819"/>
                    <a:pt x="15984" y="461584"/>
                  </a:cubicBezTo>
                  <a:cubicBezTo>
                    <a:pt x="5750" y="451350"/>
                    <a:pt x="0" y="437469"/>
                    <a:pt x="0" y="4229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23174" cy="54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28146" y="4063015"/>
            <a:ext cx="3648270" cy="1023025"/>
            <a:chOff x="0" y="0"/>
            <a:chExt cx="1703085" cy="4775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3085" cy="477568"/>
            </a:xfrm>
            <a:custGeom>
              <a:avLst/>
              <a:gdLst/>
              <a:ahLst/>
              <a:cxnLst/>
              <a:rect l="l" t="t" r="r" b="b"/>
              <a:pathLst>
                <a:path w="1703085" h="477568">
                  <a:moveTo>
                    <a:pt x="48808" y="0"/>
                  </a:moveTo>
                  <a:lnTo>
                    <a:pt x="1654277" y="0"/>
                  </a:lnTo>
                  <a:cubicBezTo>
                    <a:pt x="1681233" y="0"/>
                    <a:pt x="1703085" y="21852"/>
                    <a:pt x="1703085" y="48808"/>
                  </a:cubicBezTo>
                  <a:lnTo>
                    <a:pt x="1703085" y="428760"/>
                  </a:lnTo>
                  <a:cubicBezTo>
                    <a:pt x="1703085" y="441705"/>
                    <a:pt x="1697942" y="454119"/>
                    <a:pt x="1688789" y="463273"/>
                  </a:cubicBezTo>
                  <a:cubicBezTo>
                    <a:pt x="1679636" y="472426"/>
                    <a:pt x="1667221" y="477568"/>
                    <a:pt x="1654277" y="477568"/>
                  </a:cubicBezTo>
                  <a:lnTo>
                    <a:pt x="48808" y="477568"/>
                  </a:lnTo>
                  <a:cubicBezTo>
                    <a:pt x="35863" y="477568"/>
                    <a:pt x="23449" y="472426"/>
                    <a:pt x="14295" y="463273"/>
                  </a:cubicBezTo>
                  <a:cubicBezTo>
                    <a:pt x="5142" y="454119"/>
                    <a:pt x="0" y="441705"/>
                    <a:pt x="0" y="428760"/>
                  </a:cubicBezTo>
                  <a:lnTo>
                    <a:pt x="0" y="48808"/>
                  </a:lnTo>
                  <a:cubicBezTo>
                    <a:pt x="0" y="35863"/>
                    <a:pt x="5142" y="23449"/>
                    <a:pt x="14295" y="14295"/>
                  </a:cubicBezTo>
                  <a:cubicBezTo>
                    <a:pt x="23449" y="5142"/>
                    <a:pt x="35863" y="0"/>
                    <a:pt x="488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703085" cy="54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20633" y="1934864"/>
            <a:ext cx="7278389" cy="3420843"/>
          </a:xfrm>
          <a:custGeom>
            <a:avLst/>
            <a:gdLst/>
            <a:ahLst/>
            <a:cxnLst/>
            <a:rect l="l" t="t" r="r" b="b"/>
            <a:pathLst>
              <a:path w="7278389" h="3420843">
                <a:moveTo>
                  <a:pt x="0" y="0"/>
                </a:moveTo>
                <a:lnTo>
                  <a:pt x="7278389" y="0"/>
                </a:lnTo>
                <a:lnTo>
                  <a:pt x="7278389" y="3420843"/>
                </a:lnTo>
                <a:lnTo>
                  <a:pt x="0" y="34208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896646" y="3424869"/>
            <a:ext cx="8982561" cy="4491280"/>
          </a:xfrm>
          <a:custGeom>
            <a:avLst/>
            <a:gdLst/>
            <a:ahLst/>
            <a:cxnLst/>
            <a:rect l="l" t="t" r="r" b="b"/>
            <a:pathLst>
              <a:path w="8982561" h="4491280">
                <a:moveTo>
                  <a:pt x="0" y="0"/>
                </a:moveTo>
                <a:lnTo>
                  <a:pt x="8982561" y="0"/>
                </a:lnTo>
                <a:lnTo>
                  <a:pt x="8982561" y="4491280"/>
                </a:lnTo>
                <a:lnTo>
                  <a:pt x="0" y="4491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664227" y="8027639"/>
            <a:ext cx="16959547" cy="2127238"/>
            <a:chOff x="0" y="0"/>
            <a:chExt cx="4466712" cy="5602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66712" cy="560260"/>
            </a:xfrm>
            <a:custGeom>
              <a:avLst/>
              <a:gdLst/>
              <a:ahLst/>
              <a:cxnLst/>
              <a:rect l="l" t="t" r="r" b="b"/>
              <a:pathLst>
                <a:path w="4466712" h="560260">
                  <a:moveTo>
                    <a:pt x="23281" y="0"/>
                  </a:moveTo>
                  <a:lnTo>
                    <a:pt x="4443431" y="0"/>
                  </a:lnTo>
                  <a:cubicBezTo>
                    <a:pt x="4449605" y="0"/>
                    <a:pt x="4455527" y="2453"/>
                    <a:pt x="4459893" y="6819"/>
                  </a:cubicBezTo>
                  <a:cubicBezTo>
                    <a:pt x="4464259" y="11185"/>
                    <a:pt x="4466712" y="17107"/>
                    <a:pt x="4466712" y="23281"/>
                  </a:cubicBezTo>
                  <a:lnTo>
                    <a:pt x="4466712" y="536979"/>
                  </a:lnTo>
                  <a:cubicBezTo>
                    <a:pt x="4466712" y="543153"/>
                    <a:pt x="4464259" y="549075"/>
                    <a:pt x="4459893" y="553441"/>
                  </a:cubicBezTo>
                  <a:cubicBezTo>
                    <a:pt x="4455527" y="557807"/>
                    <a:pt x="4449605" y="560260"/>
                    <a:pt x="4443431" y="560260"/>
                  </a:cubicBezTo>
                  <a:lnTo>
                    <a:pt x="23281" y="560260"/>
                  </a:lnTo>
                  <a:cubicBezTo>
                    <a:pt x="17107" y="560260"/>
                    <a:pt x="11185" y="557807"/>
                    <a:pt x="6819" y="553441"/>
                  </a:cubicBezTo>
                  <a:cubicBezTo>
                    <a:pt x="2453" y="549075"/>
                    <a:pt x="0" y="543153"/>
                    <a:pt x="0" y="536979"/>
                  </a:cubicBezTo>
                  <a:lnTo>
                    <a:pt x="0" y="23281"/>
                  </a:lnTo>
                  <a:cubicBezTo>
                    <a:pt x="0" y="17107"/>
                    <a:pt x="2453" y="11185"/>
                    <a:pt x="6819" y="6819"/>
                  </a:cubicBezTo>
                  <a:cubicBezTo>
                    <a:pt x="11185" y="2453"/>
                    <a:pt x="17107" y="0"/>
                    <a:pt x="2328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4466712" cy="588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u="sng">
                  <a:solidFill>
                    <a:srgbClr val="10101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Observation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0101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dataset is imbalanced: legitimate messages substantially outnumber spam messages, making minority-class evaluation important.</a:t>
              </a:r>
            </a:p>
            <a:p>
              <a:pPr algn="l">
                <a:lnSpc>
                  <a:spcPts val="3600"/>
                </a:lnSpc>
              </a:pPr>
              <a:endParaRPr lang="en-US" sz="3000" b="1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5767332"/>
            <a:ext cx="9322745" cy="1805271"/>
          </a:xfrm>
          <a:custGeom>
            <a:avLst/>
            <a:gdLst/>
            <a:ahLst/>
            <a:cxnLst/>
            <a:rect l="l" t="t" r="r" b="b"/>
            <a:pathLst>
              <a:path w="9322745" h="1805271">
                <a:moveTo>
                  <a:pt x="0" y="0"/>
                </a:moveTo>
                <a:lnTo>
                  <a:pt x="9322745" y="0"/>
                </a:lnTo>
                <a:lnTo>
                  <a:pt x="9322745" y="1805271"/>
                </a:lnTo>
                <a:lnTo>
                  <a:pt x="0" y="1805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64227" y="2389658"/>
            <a:ext cx="6316292" cy="275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5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SMS Spam Collection</a:t>
            </a:r>
          </a:p>
          <a:p>
            <a:pPr marL="0" lvl="0" indent="0" algn="l">
              <a:lnSpc>
                <a:spcPts val="3613"/>
              </a:lnSpc>
              <a:spcBef>
                <a:spcPct val="0"/>
              </a:spcBef>
            </a:pPr>
            <a:r>
              <a:rPr lang="en-US" sz="25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Source: </a:t>
            </a:r>
            <a:r>
              <a:rPr lang="en-US" sz="25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UCI Machine Learning Reposi</a:t>
            </a:r>
            <a:r>
              <a:rPr lang="en-US" sz="258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tory</a:t>
            </a:r>
          </a:p>
          <a:p>
            <a:pPr marL="0" lvl="0" indent="0" algn="l">
              <a:lnSpc>
                <a:spcPts val="3613"/>
              </a:lnSpc>
              <a:spcBef>
                <a:spcPct val="0"/>
              </a:spcBef>
            </a:pPr>
            <a:r>
              <a:rPr lang="en-US" sz="2581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Task: </a:t>
            </a:r>
            <a:r>
              <a:rPr lang="en-US" sz="258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text classification — Ham vs. Spam</a:t>
            </a:r>
          </a:p>
          <a:p>
            <a:pPr marL="0" lvl="0" indent="0" algn="l">
              <a:lnSpc>
                <a:spcPts val="3613"/>
              </a:lnSpc>
              <a:spcBef>
                <a:spcPct val="0"/>
              </a:spcBef>
            </a:pPr>
            <a:r>
              <a:rPr lang="en-US" sz="2581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Records: </a:t>
            </a:r>
            <a:r>
              <a:rPr lang="en-US" sz="258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5,572 SMS messages</a:t>
            </a:r>
          </a:p>
          <a:p>
            <a:pPr marL="0" lvl="0" indent="0" algn="l">
              <a:lnSpc>
                <a:spcPts val="3613"/>
              </a:lnSpc>
              <a:spcBef>
                <a:spcPct val="0"/>
              </a:spcBef>
            </a:pPr>
            <a:endParaRPr lang="en-US" sz="2581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76770" y="255667"/>
            <a:ext cx="1633446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21"/>
              </a:lnSpc>
              <a:spcBef>
                <a:spcPct val="0"/>
              </a:spcBef>
            </a:pPr>
            <a:r>
              <a:rPr lang="en-US" sz="626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&amp; Class Distribution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59387" y="3348669"/>
            <a:ext cx="4857079" cy="51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52"/>
              </a:lnSpc>
              <a:spcBef>
                <a:spcPct val="0"/>
              </a:spcBef>
            </a:pPr>
            <a:r>
              <a:rPr lang="en-US" sz="2894" b="1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Class Distribution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633" y="5990915"/>
            <a:ext cx="811410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Source: UCI Machine Learning Repository</a:t>
            </a:r>
          </a:p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5" tooltip="https://archive.ics.uci.edu/dataset/228/sms+spam+collection"/>
              </a:rPr>
              <a:t>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9435" y="1804238"/>
            <a:ext cx="11796128" cy="8317099"/>
          </a:xfrm>
          <a:custGeom>
            <a:avLst/>
            <a:gdLst/>
            <a:ahLst/>
            <a:cxnLst/>
            <a:rect l="l" t="t" r="r" b="b"/>
            <a:pathLst>
              <a:path w="11796128" h="8317099">
                <a:moveTo>
                  <a:pt x="0" y="0"/>
                </a:moveTo>
                <a:lnTo>
                  <a:pt x="11796128" y="0"/>
                </a:lnTo>
                <a:lnTo>
                  <a:pt x="11796128" y="8317099"/>
                </a:lnTo>
                <a:lnTo>
                  <a:pt x="0" y="8317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88" b="-23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667861"/>
            <a:chOff x="0" y="0"/>
            <a:chExt cx="9414331" cy="8585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142875"/>
              <a:ext cx="9414331" cy="1001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680"/>
                </a:lnSpc>
                <a:spcBef>
                  <a:spcPct val="0"/>
                </a:spcBef>
              </a:pPr>
              <a:r>
                <a:rPr lang="en-US" sz="6200" b="1">
                  <a:solidFill>
                    <a:srgbClr val="FEFEF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 and WorkFlow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9414331" cy="1001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680"/>
                </a:lnSpc>
                <a:spcBef>
                  <a:spcPct val="0"/>
                </a:spcBef>
              </a:pPr>
              <a:r>
                <a:rPr lang="en-US" sz="6200" b="1">
                  <a:solidFill>
                    <a:srgbClr val="FEFEF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These Three Models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259596" y="3082709"/>
            <a:ext cx="15768808" cy="4121583"/>
          </a:xfrm>
          <a:custGeom>
            <a:avLst/>
            <a:gdLst/>
            <a:ahLst/>
            <a:cxnLst/>
            <a:rect l="l" t="t" r="r" b="b"/>
            <a:pathLst>
              <a:path w="15768808" h="4121583">
                <a:moveTo>
                  <a:pt x="0" y="0"/>
                </a:moveTo>
                <a:lnTo>
                  <a:pt x="15768808" y="0"/>
                </a:lnTo>
                <a:lnTo>
                  <a:pt x="15768808" y="4121582"/>
                </a:lnTo>
                <a:lnTo>
                  <a:pt x="0" y="412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938221" y="7846785"/>
            <a:ext cx="14658728" cy="1953551"/>
          </a:xfrm>
          <a:custGeom>
            <a:avLst/>
            <a:gdLst/>
            <a:ahLst/>
            <a:cxnLst/>
            <a:rect l="l" t="t" r="r" b="b"/>
            <a:pathLst>
              <a:path w="14658728" h="1953551">
                <a:moveTo>
                  <a:pt x="0" y="0"/>
                </a:moveTo>
                <a:lnTo>
                  <a:pt x="14658728" y="0"/>
                </a:lnTo>
                <a:lnTo>
                  <a:pt x="14658728" y="1953552"/>
                </a:lnTo>
                <a:lnTo>
                  <a:pt x="0" y="1953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43" t="-16211" r="-2943" b="-16211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3914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414331" cy="91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8133" y="1965580"/>
            <a:ext cx="17177026" cy="2608947"/>
            <a:chOff x="0" y="0"/>
            <a:chExt cx="4523990" cy="6871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23990" cy="687130"/>
            </a:xfrm>
            <a:custGeom>
              <a:avLst/>
              <a:gdLst/>
              <a:ahLst/>
              <a:cxnLst/>
              <a:rect l="l" t="t" r="r" b="b"/>
              <a:pathLst>
                <a:path w="4523990" h="687130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676764"/>
                  </a:lnTo>
                  <a:cubicBezTo>
                    <a:pt x="4523990" y="679513"/>
                    <a:pt x="4522898" y="682150"/>
                    <a:pt x="4520954" y="684094"/>
                  </a:cubicBezTo>
                  <a:cubicBezTo>
                    <a:pt x="4519010" y="686038"/>
                    <a:pt x="4516373" y="687130"/>
                    <a:pt x="4513624" y="687130"/>
                  </a:cubicBezTo>
                  <a:lnTo>
                    <a:pt x="10366" y="687130"/>
                  </a:lnTo>
                  <a:cubicBezTo>
                    <a:pt x="7617" y="687130"/>
                    <a:pt x="4980" y="686038"/>
                    <a:pt x="3036" y="684094"/>
                  </a:cubicBezTo>
                  <a:cubicBezTo>
                    <a:pt x="1092" y="682150"/>
                    <a:pt x="0" y="679513"/>
                    <a:pt x="0" y="676764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523990" cy="753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6408" y="4063015"/>
            <a:ext cx="3262874" cy="1023025"/>
            <a:chOff x="0" y="0"/>
            <a:chExt cx="1523174" cy="4775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3174" cy="477568"/>
            </a:xfrm>
            <a:custGeom>
              <a:avLst/>
              <a:gdLst/>
              <a:ahLst/>
              <a:cxnLst/>
              <a:rect l="l" t="t" r="r" b="b"/>
              <a:pathLst>
                <a:path w="1523174" h="4775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422995"/>
                  </a:lnTo>
                  <a:cubicBezTo>
                    <a:pt x="1523174" y="453135"/>
                    <a:pt x="1498741" y="477568"/>
                    <a:pt x="1468601" y="477568"/>
                  </a:cubicBezTo>
                  <a:lnTo>
                    <a:pt x="54573" y="477568"/>
                  </a:lnTo>
                  <a:cubicBezTo>
                    <a:pt x="40099" y="477568"/>
                    <a:pt x="26218" y="471819"/>
                    <a:pt x="15984" y="461584"/>
                  </a:cubicBezTo>
                  <a:cubicBezTo>
                    <a:pt x="5750" y="451350"/>
                    <a:pt x="0" y="437469"/>
                    <a:pt x="0" y="4229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23174" cy="54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28146" y="4063015"/>
            <a:ext cx="3648270" cy="1023025"/>
            <a:chOff x="0" y="0"/>
            <a:chExt cx="1703085" cy="4775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3085" cy="477568"/>
            </a:xfrm>
            <a:custGeom>
              <a:avLst/>
              <a:gdLst/>
              <a:ahLst/>
              <a:cxnLst/>
              <a:rect l="l" t="t" r="r" b="b"/>
              <a:pathLst>
                <a:path w="1703085" h="477568">
                  <a:moveTo>
                    <a:pt x="48808" y="0"/>
                  </a:moveTo>
                  <a:lnTo>
                    <a:pt x="1654277" y="0"/>
                  </a:lnTo>
                  <a:cubicBezTo>
                    <a:pt x="1681233" y="0"/>
                    <a:pt x="1703085" y="21852"/>
                    <a:pt x="1703085" y="48808"/>
                  </a:cubicBezTo>
                  <a:lnTo>
                    <a:pt x="1703085" y="428760"/>
                  </a:lnTo>
                  <a:cubicBezTo>
                    <a:pt x="1703085" y="441705"/>
                    <a:pt x="1697942" y="454119"/>
                    <a:pt x="1688789" y="463273"/>
                  </a:cubicBezTo>
                  <a:cubicBezTo>
                    <a:pt x="1679636" y="472426"/>
                    <a:pt x="1667221" y="477568"/>
                    <a:pt x="1654277" y="477568"/>
                  </a:cubicBezTo>
                  <a:lnTo>
                    <a:pt x="48808" y="477568"/>
                  </a:lnTo>
                  <a:cubicBezTo>
                    <a:pt x="35863" y="477568"/>
                    <a:pt x="23449" y="472426"/>
                    <a:pt x="14295" y="463273"/>
                  </a:cubicBezTo>
                  <a:cubicBezTo>
                    <a:pt x="5142" y="454119"/>
                    <a:pt x="0" y="441705"/>
                    <a:pt x="0" y="428760"/>
                  </a:cubicBezTo>
                  <a:lnTo>
                    <a:pt x="0" y="48808"/>
                  </a:lnTo>
                  <a:cubicBezTo>
                    <a:pt x="0" y="35863"/>
                    <a:pt x="5142" y="23449"/>
                    <a:pt x="14295" y="14295"/>
                  </a:cubicBezTo>
                  <a:cubicBezTo>
                    <a:pt x="23449" y="5142"/>
                    <a:pt x="35863" y="0"/>
                    <a:pt x="488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703085" cy="54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aphicFrame>
        <p:nvGraphicFramePr>
          <p:cNvPr id="14" name="Object 14"/>
          <p:cNvGraphicFramePr/>
          <p:nvPr/>
        </p:nvGraphicFramePr>
        <p:xfrm>
          <a:off x="1028700" y="2052638"/>
          <a:ext cx="16230600" cy="618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469100" imgH="9423400" progId="Excel.Sheet.12">
                  <p:embed/>
                </p:oleObj>
              </mc:Choice>
              <mc:Fallback>
                <p:oleObj name="Worksheet" r:id="rId2" imgW="19469100" imgH="9423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2052638"/>
                        <a:ext cx="16230600" cy="618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976770" y="255667"/>
            <a:ext cx="1633446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21"/>
              </a:lnSpc>
              <a:spcBef>
                <a:spcPct val="0"/>
              </a:spcBef>
            </a:pPr>
            <a:r>
              <a:rPr lang="en-US" sz="626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3914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414331" cy="91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8133" y="1965580"/>
            <a:ext cx="17177026" cy="2608947"/>
            <a:chOff x="0" y="0"/>
            <a:chExt cx="4523990" cy="6871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23990" cy="687130"/>
            </a:xfrm>
            <a:custGeom>
              <a:avLst/>
              <a:gdLst/>
              <a:ahLst/>
              <a:cxnLst/>
              <a:rect l="l" t="t" r="r" b="b"/>
              <a:pathLst>
                <a:path w="4523990" h="687130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676764"/>
                  </a:lnTo>
                  <a:cubicBezTo>
                    <a:pt x="4523990" y="679513"/>
                    <a:pt x="4522898" y="682150"/>
                    <a:pt x="4520954" y="684094"/>
                  </a:cubicBezTo>
                  <a:cubicBezTo>
                    <a:pt x="4519010" y="686038"/>
                    <a:pt x="4516373" y="687130"/>
                    <a:pt x="4513624" y="687130"/>
                  </a:cubicBezTo>
                  <a:lnTo>
                    <a:pt x="10366" y="687130"/>
                  </a:lnTo>
                  <a:cubicBezTo>
                    <a:pt x="7617" y="687130"/>
                    <a:pt x="4980" y="686038"/>
                    <a:pt x="3036" y="684094"/>
                  </a:cubicBezTo>
                  <a:cubicBezTo>
                    <a:pt x="1092" y="682150"/>
                    <a:pt x="0" y="679513"/>
                    <a:pt x="0" y="676764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523990" cy="753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6408" y="4063015"/>
            <a:ext cx="3262874" cy="1023025"/>
            <a:chOff x="0" y="0"/>
            <a:chExt cx="1523174" cy="4775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3174" cy="477568"/>
            </a:xfrm>
            <a:custGeom>
              <a:avLst/>
              <a:gdLst/>
              <a:ahLst/>
              <a:cxnLst/>
              <a:rect l="l" t="t" r="r" b="b"/>
              <a:pathLst>
                <a:path w="1523174" h="4775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422995"/>
                  </a:lnTo>
                  <a:cubicBezTo>
                    <a:pt x="1523174" y="453135"/>
                    <a:pt x="1498741" y="477568"/>
                    <a:pt x="1468601" y="477568"/>
                  </a:cubicBezTo>
                  <a:lnTo>
                    <a:pt x="54573" y="477568"/>
                  </a:lnTo>
                  <a:cubicBezTo>
                    <a:pt x="40099" y="477568"/>
                    <a:pt x="26218" y="471819"/>
                    <a:pt x="15984" y="461584"/>
                  </a:cubicBezTo>
                  <a:cubicBezTo>
                    <a:pt x="5750" y="451350"/>
                    <a:pt x="0" y="437469"/>
                    <a:pt x="0" y="4229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23174" cy="54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28146" y="4063015"/>
            <a:ext cx="3648270" cy="1023025"/>
            <a:chOff x="0" y="0"/>
            <a:chExt cx="1703085" cy="4775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3085" cy="477568"/>
            </a:xfrm>
            <a:custGeom>
              <a:avLst/>
              <a:gdLst/>
              <a:ahLst/>
              <a:cxnLst/>
              <a:rect l="l" t="t" r="r" b="b"/>
              <a:pathLst>
                <a:path w="1703085" h="477568">
                  <a:moveTo>
                    <a:pt x="48808" y="0"/>
                  </a:moveTo>
                  <a:lnTo>
                    <a:pt x="1654277" y="0"/>
                  </a:lnTo>
                  <a:cubicBezTo>
                    <a:pt x="1681233" y="0"/>
                    <a:pt x="1703085" y="21852"/>
                    <a:pt x="1703085" y="48808"/>
                  </a:cubicBezTo>
                  <a:lnTo>
                    <a:pt x="1703085" y="428760"/>
                  </a:lnTo>
                  <a:cubicBezTo>
                    <a:pt x="1703085" y="441705"/>
                    <a:pt x="1697942" y="454119"/>
                    <a:pt x="1688789" y="463273"/>
                  </a:cubicBezTo>
                  <a:cubicBezTo>
                    <a:pt x="1679636" y="472426"/>
                    <a:pt x="1667221" y="477568"/>
                    <a:pt x="1654277" y="477568"/>
                  </a:cubicBezTo>
                  <a:lnTo>
                    <a:pt x="48808" y="477568"/>
                  </a:lnTo>
                  <a:cubicBezTo>
                    <a:pt x="35863" y="477568"/>
                    <a:pt x="23449" y="472426"/>
                    <a:pt x="14295" y="463273"/>
                  </a:cubicBezTo>
                  <a:cubicBezTo>
                    <a:pt x="5142" y="454119"/>
                    <a:pt x="0" y="441705"/>
                    <a:pt x="0" y="428760"/>
                  </a:cubicBezTo>
                  <a:lnTo>
                    <a:pt x="0" y="48808"/>
                  </a:lnTo>
                  <a:cubicBezTo>
                    <a:pt x="0" y="35863"/>
                    <a:pt x="5142" y="23449"/>
                    <a:pt x="14295" y="14295"/>
                  </a:cubicBezTo>
                  <a:cubicBezTo>
                    <a:pt x="23449" y="5142"/>
                    <a:pt x="35863" y="0"/>
                    <a:pt x="488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703085" cy="54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aphicFrame>
        <p:nvGraphicFramePr>
          <p:cNvPr id="14" name="Object 14"/>
          <p:cNvGraphicFramePr/>
          <p:nvPr/>
        </p:nvGraphicFramePr>
        <p:xfrm>
          <a:off x="1028700" y="2053372"/>
          <a:ext cx="16230600" cy="6180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469100" imgH="9423400" progId="Excel.Sheet.12">
                  <p:embed/>
                </p:oleObj>
              </mc:Choice>
              <mc:Fallback>
                <p:oleObj name="Worksheet" r:id="rId2" imgW="19469100" imgH="9423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2053372"/>
                        <a:ext cx="16230600" cy="6180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976770" y="255667"/>
            <a:ext cx="1633446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21"/>
              </a:lnSpc>
              <a:spcBef>
                <a:spcPct val="0"/>
              </a:spcBef>
            </a:pPr>
            <a:r>
              <a:rPr lang="en-US" sz="626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Evaluation Metrics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30920" y="8051267"/>
            <a:ext cx="17557080" cy="2235733"/>
            <a:chOff x="0" y="-28575"/>
            <a:chExt cx="4624087" cy="5888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24087" cy="560260"/>
            </a:xfrm>
            <a:custGeom>
              <a:avLst/>
              <a:gdLst/>
              <a:ahLst/>
              <a:cxnLst/>
              <a:rect l="l" t="t" r="r" b="b"/>
              <a:pathLst>
                <a:path w="4624087" h="560260">
                  <a:moveTo>
                    <a:pt x="22489" y="0"/>
                  </a:moveTo>
                  <a:lnTo>
                    <a:pt x="4601598" y="0"/>
                  </a:lnTo>
                  <a:cubicBezTo>
                    <a:pt x="4607562" y="0"/>
                    <a:pt x="4613282" y="2369"/>
                    <a:pt x="4617500" y="6587"/>
                  </a:cubicBezTo>
                  <a:cubicBezTo>
                    <a:pt x="4621718" y="10804"/>
                    <a:pt x="4624087" y="16524"/>
                    <a:pt x="4624087" y="22489"/>
                  </a:cubicBezTo>
                  <a:lnTo>
                    <a:pt x="4624087" y="537771"/>
                  </a:lnTo>
                  <a:cubicBezTo>
                    <a:pt x="4624087" y="543736"/>
                    <a:pt x="4621718" y="549456"/>
                    <a:pt x="4617500" y="553673"/>
                  </a:cubicBezTo>
                  <a:cubicBezTo>
                    <a:pt x="4613282" y="557891"/>
                    <a:pt x="4607562" y="560260"/>
                    <a:pt x="4601598" y="560260"/>
                  </a:cubicBezTo>
                  <a:lnTo>
                    <a:pt x="22489" y="560260"/>
                  </a:lnTo>
                  <a:cubicBezTo>
                    <a:pt x="16524" y="560260"/>
                    <a:pt x="10804" y="557891"/>
                    <a:pt x="6587" y="553673"/>
                  </a:cubicBezTo>
                  <a:cubicBezTo>
                    <a:pt x="2369" y="549456"/>
                    <a:pt x="0" y="543736"/>
                    <a:pt x="0" y="537771"/>
                  </a:cubicBezTo>
                  <a:lnTo>
                    <a:pt x="0" y="22489"/>
                  </a:lnTo>
                  <a:cubicBezTo>
                    <a:pt x="0" y="16524"/>
                    <a:pt x="2369" y="10804"/>
                    <a:pt x="6587" y="6587"/>
                  </a:cubicBezTo>
                  <a:cubicBezTo>
                    <a:pt x="10804" y="2369"/>
                    <a:pt x="16524" y="0"/>
                    <a:pt x="22489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4624087" cy="588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u="sng" dirty="0">
                  <a:solidFill>
                    <a:srgbClr val="10101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Takeaway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1" dirty="0">
                  <a:solidFill>
                    <a:srgbClr val="10101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 imbalanced data, accuracy alone can hide poor spam detection. Five complementary metrics give a fair comparison of the three models.</a:t>
              </a:r>
            </a:p>
            <a:p>
              <a:pPr algn="l">
                <a:lnSpc>
                  <a:spcPts val="3600"/>
                </a:lnSpc>
              </a:pPr>
              <a:endParaRPr lang="en-US" sz="3000" b="1" dirty="0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29"/>
            <a:ext cx="18288000" cy="1905028"/>
            <a:chOff x="0" y="0"/>
            <a:chExt cx="9414331" cy="9806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980674"/>
            </a:xfrm>
            <a:custGeom>
              <a:avLst/>
              <a:gdLst/>
              <a:ahLst/>
              <a:cxnLst/>
              <a:rect l="l" t="t" r="r" b="b"/>
              <a:pathLst>
                <a:path w="9414331" h="980674">
                  <a:moveTo>
                    <a:pt x="0" y="0"/>
                  </a:moveTo>
                  <a:lnTo>
                    <a:pt x="9414331" y="0"/>
                  </a:lnTo>
                  <a:lnTo>
                    <a:pt x="9414331" y="980674"/>
                  </a:lnTo>
                  <a:lnTo>
                    <a:pt x="0" y="980674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414331" cy="1037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82095" y="1912856"/>
            <a:ext cx="15797218" cy="2639468"/>
          </a:xfrm>
          <a:custGeom>
            <a:avLst/>
            <a:gdLst/>
            <a:ahLst/>
            <a:cxnLst/>
            <a:rect l="l" t="t" r="r" b="b"/>
            <a:pathLst>
              <a:path w="15797218" h="2639468">
                <a:moveTo>
                  <a:pt x="0" y="0"/>
                </a:moveTo>
                <a:lnTo>
                  <a:pt x="15797218" y="0"/>
                </a:lnTo>
                <a:lnTo>
                  <a:pt x="15797218" y="2639469"/>
                </a:lnTo>
                <a:lnTo>
                  <a:pt x="0" y="2639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82095" y="4771400"/>
            <a:ext cx="6501361" cy="543750"/>
          </a:xfrm>
          <a:custGeom>
            <a:avLst/>
            <a:gdLst/>
            <a:ahLst/>
            <a:cxnLst/>
            <a:rect l="l" t="t" r="r" b="b"/>
            <a:pathLst>
              <a:path w="6501361" h="543750">
                <a:moveTo>
                  <a:pt x="0" y="0"/>
                </a:moveTo>
                <a:lnTo>
                  <a:pt x="6501361" y="0"/>
                </a:lnTo>
                <a:lnTo>
                  <a:pt x="6501361" y="543750"/>
                </a:lnTo>
                <a:lnTo>
                  <a:pt x="0" y="543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2095" y="5361499"/>
            <a:ext cx="7002416" cy="3200409"/>
          </a:xfrm>
          <a:custGeom>
            <a:avLst/>
            <a:gdLst/>
            <a:ahLst/>
            <a:cxnLst/>
            <a:rect l="l" t="t" r="r" b="b"/>
            <a:pathLst>
              <a:path w="7002416" h="3200409">
                <a:moveTo>
                  <a:pt x="0" y="0"/>
                </a:moveTo>
                <a:lnTo>
                  <a:pt x="7002416" y="0"/>
                </a:lnTo>
                <a:lnTo>
                  <a:pt x="7002416" y="3200409"/>
                </a:lnTo>
                <a:lnTo>
                  <a:pt x="0" y="3200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99" r="-2509" b="-268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46546" y="4701645"/>
            <a:ext cx="6342051" cy="3860263"/>
          </a:xfrm>
          <a:custGeom>
            <a:avLst/>
            <a:gdLst/>
            <a:ahLst/>
            <a:cxnLst/>
            <a:rect l="l" t="t" r="r" b="b"/>
            <a:pathLst>
              <a:path w="6342051" h="3860263">
                <a:moveTo>
                  <a:pt x="0" y="0"/>
                </a:moveTo>
                <a:lnTo>
                  <a:pt x="6342051" y="0"/>
                </a:lnTo>
                <a:lnTo>
                  <a:pt x="6342051" y="3860263"/>
                </a:lnTo>
                <a:lnTo>
                  <a:pt x="0" y="3860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374" b="-237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34429" y="8885758"/>
            <a:ext cx="13084230" cy="883186"/>
          </a:xfrm>
          <a:custGeom>
            <a:avLst/>
            <a:gdLst/>
            <a:ahLst/>
            <a:cxnLst/>
            <a:rect l="l" t="t" r="r" b="b"/>
            <a:pathLst>
              <a:path w="13084230" h="883186">
                <a:moveTo>
                  <a:pt x="0" y="0"/>
                </a:moveTo>
                <a:lnTo>
                  <a:pt x="13084230" y="0"/>
                </a:lnTo>
                <a:lnTo>
                  <a:pt x="13084230" y="883185"/>
                </a:lnTo>
                <a:lnTo>
                  <a:pt x="0" y="8831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854860" y="9170573"/>
            <a:ext cx="416426" cy="313555"/>
          </a:xfrm>
          <a:custGeom>
            <a:avLst/>
            <a:gdLst/>
            <a:ahLst/>
            <a:cxnLst/>
            <a:rect l="l" t="t" r="r" b="b"/>
            <a:pathLst>
              <a:path w="416426" h="313555">
                <a:moveTo>
                  <a:pt x="0" y="0"/>
                </a:moveTo>
                <a:lnTo>
                  <a:pt x="416426" y="0"/>
                </a:lnTo>
                <a:lnTo>
                  <a:pt x="416426" y="313555"/>
                </a:lnTo>
                <a:lnTo>
                  <a:pt x="0" y="313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69569" b="-26956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583650" y="223426"/>
            <a:ext cx="10385788" cy="217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80"/>
              </a:lnSpc>
              <a:spcBef>
                <a:spcPct val="0"/>
              </a:spcBef>
            </a:pPr>
            <a:r>
              <a:rPr lang="en-US" sz="6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</a:t>
            </a:r>
            <a:r>
              <a:rPr lang="en-US" sz="6200" b="1" u="none" strike="noStrik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ts &amp; Model Comparison</a:t>
            </a:r>
          </a:p>
          <a:p>
            <a:pPr marL="0" lvl="0" indent="0" algn="ctr">
              <a:lnSpc>
                <a:spcPts val="8680"/>
              </a:lnSpc>
              <a:spcBef>
                <a:spcPct val="0"/>
              </a:spcBef>
            </a:pPr>
            <a:endParaRPr lang="en-US" sz="6200" b="1" u="none" strike="noStrike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9916" y="4857750"/>
            <a:ext cx="6145463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❷Model Comparison Across Evaluation Metrics</a:t>
            </a:r>
          </a:p>
          <a:p>
            <a:pPr algn="ctr">
              <a:lnSpc>
                <a:spcPts val="2279"/>
              </a:lnSpc>
              <a:spcBef>
                <a:spcPct val="0"/>
              </a:spcBef>
            </a:pPr>
            <a:endParaRPr lang="en-US" sz="18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586859" y="9115425"/>
            <a:ext cx="199358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5FB2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✓ Key Finding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47511" y="9151523"/>
            <a:ext cx="7092077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Linear SVM achieved the highest score across all five evaluation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3914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414331" cy="91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34195" y="2156530"/>
            <a:ext cx="8148027" cy="3585798"/>
          </a:xfrm>
          <a:custGeom>
            <a:avLst/>
            <a:gdLst/>
            <a:ahLst/>
            <a:cxnLst/>
            <a:rect l="l" t="t" r="r" b="b"/>
            <a:pathLst>
              <a:path w="8148027" h="3585798">
                <a:moveTo>
                  <a:pt x="0" y="0"/>
                </a:moveTo>
                <a:lnTo>
                  <a:pt x="8148027" y="0"/>
                </a:lnTo>
                <a:lnTo>
                  <a:pt x="8148027" y="3585798"/>
                </a:lnTo>
                <a:lnTo>
                  <a:pt x="0" y="3585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6" r="-65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051270" y="3150261"/>
            <a:ext cx="7982534" cy="4626147"/>
          </a:xfrm>
          <a:custGeom>
            <a:avLst/>
            <a:gdLst/>
            <a:ahLst/>
            <a:cxnLst/>
            <a:rect l="l" t="t" r="r" b="b"/>
            <a:pathLst>
              <a:path w="7982534" h="4626147">
                <a:moveTo>
                  <a:pt x="0" y="0"/>
                </a:moveTo>
                <a:lnTo>
                  <a:pt x="7982534" y="0"/>
                </a:lnTo>
                <a:lnTo>
                  <a:pt x="7982534" y="4626147"/>
                </a:lnTo>
                <a:lnTo>
                  <a:pt x="0" y="4626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9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44714" y="6135996"/>
            <a:ext cx="7942191" cy="4151004"/>
          </a:xfrm>
          <a:custGeom>
            <a:avLst/>
            <a:gdLst/>
            <a:ahLst/>
            <a:cxnLst/>
            <a:rect l="l" t="t" r="r" b="b"/>
            <a:pathLst>
              <a:path w="7942191" h="4151004">
                <a:moveTo>
                  <a:pt x="0" y="0"/>
                </a:moveTo>
                <a:lnTo>
                  <a:pt x="7942191" y="0"/>
                </a:lnTo>
                <a:lnTo>
                  <a:pt x="7942191" y="4151004"/>
                </a:lnTo>
                <a:lnTo>
                  <a:pt x="0" y="4151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82" b="-666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408209" y="51884"/>
            <a:ext cx="9471582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80"/>
              </a:lnSpc>
              <a:spcBef>
                <a:spcPct val="0"/>
              </a:spcBef>
            </a:pPr>
            <a:r>
              <a:rPr lang="en-US" sz="6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Live Demo</a:t>
            </a:r>
          </a:p>
        </p:txBody>
      </p:sp>
      <p:sp>
        <p:nvSpPr>
          <p:cNvPr id="9" name="Freeform 9"/>
          <p:cNvSpPr/>
          <p:nvPr/>
        </p:nvSpPr>
        <p:spPr>
          <a:xfrm>
            <a:off x="10787118" y="8452683"/>
            <a:ext cx="6185346" cy="1284551"/>
          </a:xfrm>
          <a:custGeom>
            <a:avLst/>
            <a:gdLst/>
            <a:ahLst/>
            <a:cxnLst/>
            <a:rect l="l" t="t" r="r" b="b"/>
            <a:pathLst>
              <a:path w="6185346" h="1284551">
                <a:moveTo>
                  <a:pt x="0" y="0"/>
                </a:moveTo>
                <a:lnTo>
                  <a:pt x="6185346" y="0"/>
                </a:lnTo>
                <a:lnTo>
                  <a:pt x="6185346" y="1284551"/>
                </a:lnTo>
                <a:lnTo>
                  <a:pt x="0" y="12845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0717" t="-36328" r="-150717" b="-2533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787118" y="8839200"/>
            <a:ext cx="618534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“The prototype compares three classifiers, displays their predictions, and highlights disagreements on ambiguous messages.”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87118" y="8572500"/>
            <a:ext cx="618534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u="sng">
                <a:solidFill>
                  <a:srgbClr val="1010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3914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414331" cy="91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73920" y="1908983"/>
            <a:ext cx="7166932" cy="6306900"/>
          </a:xfrm>
          <a:custGeom>
            <a:avLst/>
            <a:gdLst/>
            <a:ahLst/>
            <a:cxnLst/>
            <a:rect l="l" t="t" r="r" b="b"/>
            <a:pathLst>
              <a:path w="7166932" h="6306900">
                <a:moveTo>
                  <a:pt x="0" y="0"/>
                </a:moveTo>
                <a:lnTo>
                  <a:pt x="7166932" y="0"/>
                </a:lnTo>
                <a:lnTo>
                  <a:pt x="7166932" y="6306900"/>
                </a:lnTo>
                <a:lnTo>
                  <a:pt x="0" y="6306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95716" y="1939404"/>
            <a:ext cx="8250578" cy="7122123"/>
          </a:xfrm>
          <a:custGeom>
            <a:avLst/>
            <a:gdLst/>
            <a:ahLst/>
            <a:cxnLst/>
            <a:rect l="l" t="t" r="r" b="b"/>
            <a:pathLst>
              <a:path w="8250578" h="7122123">
                <a:moveTo>
                  <a:pt x="0" y="0"/>
                </a:moveTo>
                <a:lnTo>
                  <a:pt x="8250578" y="0"/>
                </a:lnTo>
                <a:lnTo>
                  <a:pt x="8250578" y="7122123"/>
                </a:lnTo>
                <a:lnTo>
                  <a:pt x="0" y="71221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6" b="-13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29595" y="51884"/>
            <a:ext cx="14278008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80"/>
              </a:lnSpc>
              <a:spcBef>
                <a:spcPct val="0"/>
              </a:spcBef>
            </a:pPr>
            <a:r>
              <a:rPr lang="en-US" sz="6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Error Analysis &amp; Critical Findings</a:t>
            </a:r>
          </a:p>
        </p:txBody>
      </p:sp>
      <p:sp>
        <p:nvSpPr>
          <p:cNvPr id="8" name="Freeform 8"/>
          <p:cNvSpPr/>
          <p:nvPr/>
        </p:nvSpPr>
        <p:spPr>
          <a:xfrm>
            <a:off x="536775" y="9258300"/>
            <a:ext cx="16722525" cy="883186"/>
          </a:xfrm>
          <a:custGeom>
            <a:avLst/>
            <a:gdLst/>
            <a:ahLst/>
            <a:cxnLst/>
            <a:rect l="l" t="t" r="r" b="b"/>
            <a:pathLst>
              <a:path w="16722525" h="883186">
                <a:moveTo>
                  <a:pt x="0" y="0"/>
                </a:moveTo>
                <a:lnTo>
                  <a:pt x="16722525" y="0"/>
                </a:lnTo>
                <a:lnTo>
                  <a:pt x="16722525" y="883186"/>
                </a:lnTo>
                <a:lnTo>
                  <a:pt x="0" y="883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903" b="-1390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9504630"/>
            <a:ext cx="199358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5FB2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✓ Key Finding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3439884" y="9543115"/>
            <a:ext cx="416426" cy="313555"/>
          </a:xfrm>
          <a:custGeom>
            <a:avLst/>
            <a:gdLst/>
            <a:ahLst/>
            <a:cxnLst/>
            <a:rect l="l" t="t" r="r" b="b"/>
            <a:pathLst>
              <a:path w="416426" h="313555">
                <a:moveTo>
                  <a:pt x="0" y="0"/>
                </a:moveTo>
                <a:lnTo>
                  <a:pt x="416426" y="0"/>
                </a:lnTo>
                <a:lnTo>
                  <a:pt x="416426" y="313555"/>
                </a:lnTo>
                <a:lnTo>
                  <a:pt x="0" y="313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9569" b="-26956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644749" y="9423668"/>
            <a:ext cx="1211316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Linear SVM achieved 98.92% accuracy, with 8 false negatives and 4 false positives, highlighting the need to evaluate both missed spam and legitimate messages incorrectly flagged as spam.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3914"/>
            <a:ext cx="18288000" cy="1667861"/>
            <a:chOff x="0" y="0"/>
            <a:chExt cx="9414331" cy="858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8585"/>
            </a:xfrm>
            <a:custGeom>
              <a:avLst/>
              <a:gdLst/>
              <a:ahLst/>
              <a:cxnLst/>
              <a:rect l="l" t="t" r="r" b="b"/>
              <a:pathLst>
                <a:path w="9414331" h="858585">
                  <a:moveTo>
                    <a:pt x="0" y="0"/>
                  </a:moveTo>
                  <a:lnTo>
                    <a:pt x="9414331" y="0"/>
                  </a:lnTo>
                  <a:lnTo>
                    <a:pt x="9414331" y="858585"/>
                  </a:lnTo>
                  <a:lnTo>
                    <a:pt x="0" y="85858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414331" cy="91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0191" y="2425661"/>
            <a:ext cx="7109674" cy="3308858"/>
          </a:xfrm>
          <a:custGeom>
            <a:avLst/>
            <a:gdLst/>
            <a:ahLst/>
            <a:cxnLst/>
            <a:rect l="l" t="t" r="r" b="b"/>
            <a:pathLst>
              <a:path w="7109674" h="3308858">
                <a:moveTo>
                  <a:pt x="0" y="0"/>
                </a:moveTo>
                <a:lnTo>
                  <a:pt x="7109674" y="0"/>
                </a:lnTo>
                <a:lnTo>
                  <a:pt x="7109674" y="3308858"/>
                </a:lnTo>
                <a:lnTo>
                  <a:pt x="0" y="3308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599" t="-15023" r="-730592" b="-2307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2425661"/>
            <a:ext cx="8112291" cy="3308858"/>
          </a:xfrm>
          <a:custGeom>
            <a:avLst/>
            <a:gdLst/>
            <a:ahLst/>
            <a:cxnLst/>
            <a:rect l="l" t="t" r="r" b="b"/>
            <a:pathLst>
              <a:path w="8112291" h="3308858">
                <a:moveTo>
                  <a:pt x="0" y="0"/>
                </a:moveTo>
                <a:lnTo>
                  <a:pt x="8112291" y="0"/>
                </a:lnTo>
                <a:lnTo>
                  <a:pt x="8112291" y="3308858"/>
                </a:lnTo>
                <a:lnTo>
                  <a:pt x="0" y="3308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5809" t="-36534" r="-337093" b="-2605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0191" y="6118820"/>
            <a:ext cx="15737726" cy="3833474"/>
          </a:xfrm>
          <a:custGeom>
            <a:avLst/>
            <a:gdLst/>
            <a:ahLst/>
            <a:cxnLst/>
            <a:rect l="l" t="t" r="r" b="b"/>
            <a:pathLst>
              <a:path w="15737726" h="3833474">
                <a:moveTo>
                  <a:pt x="0" y="0"/>
                </a:moveTo>
                <a:lnTo>
                  <a:pt x="15737726" y="0"/>
                </a:lnTo>
                <a:lnTo>
                  <a:pt x="15737726" y="3833474"/>
                </a:lnTo>
                <a:lnTo>
                  <a:pt x="0" y="3833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63" t="-90842" r="-1607" b="-9084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29595" y="42359"/>
            <a:ext cx="14278008" cy="1123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Future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6287" y="3368675"/>
            <a:ext cx="6742723" cy="187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Conclusion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30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SVM achieved the best performance across all five evaluation metrics.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8599" y="3321050"/>
            <a:ext cx="7389318" cy="191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Hypothesis Verdict</a:t>
            </a:r>
          </a:p>
          <a:p>
            <a:pPr algn="l">
              <a:lnSpc>
                <a:spcPts val="3849"/>
              </a:lnSpc>
              <a:spcBef>
                <a:spcPct val="0"/>
              </a:spcBef>
            </a:pPr>
            <a:endParaRPr lang="en-US" sz="30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supported: the top-ranked model did not change across the five metrics in our results.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9595" y="6042808"/>
            <a:ext cx="14278008" cy="280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3"/>
              </a:lnSpc>
              <a:spcBef>
                <a:spcPct val="0"/>
              </a:spcBef>
            </a:pPr>
            <a:r>
              <a:rPr lang="en-US" sz="47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 &amp; Future Scope</a:t>
            </a:r>
          </a:p>
          <a:p>
            <a:pPr algn="l">
              <a:lnSpc>
                <a:spcPts val="5162"/>
              </a:lnSpc>
              <a:spcBef>
                <a:spcPct val="0"/>
              </a:spcBef>
            </a:pPr>
            <a:r>
              <a:rPr lang="en-US" sz="36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Evaluate on additional and real-world SMS datasets.</a:t>
            </a:r>
          </a:p>
          <a:p>
            <a:pPr algn="l">
              <a:lnSpc>
                <a:spcPts val="5162"/>
              </a:lnSpc>
              <a:spcBef>
                <a:spcPct val="0"/>
              </a:spcBef>
            </a:pPr>
            <a:r>
              <a:rPr lang="en-US" sz="36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Explore threshold tuning to balance spam detection and false alarms.</a:t>
            </a:r>
          </a:p>
          <a:p>
            <a:pPr algn="l">
              <a:lnSpc>
                <a:spcPts val="5162"/>
              </a:lnSpc>
              <a:spcBef>
                <a:spcPct val="0"/>
              </a:spcBef>
            </a:pPr>
            <a:r>
              <a:rPr lang="en-US" sz="36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Extend explainability and multilingual SMS detection.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3106971" y="4896906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8"/>
                </a:lnTo>
                <a:lnTo>
                  <a:pt x="0" y="8722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98322">
            <a:off x="-3321790" y="-3854985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97604" y="5975996"/>
            <a:ext cx="4626150" cy="2891343"/>
          </a:xfrm>
          <a:custGeom>
            <a:avLst/>
            <a:gdLst/>
            <a:ahLst/>
            <a:cxnLst/>
            <a:rect l="l" t="t" r="r" b="b"/>
            <a:pathLst>
              <a:path w="4626150" h="2891343">
                <a:moveTo>
                  <a:pt x="0" y="0"/>
                </a:moveTo>
                <a:lnTo>
                  <a:pt x="4626150" y="0"/>
                </a:lnTo>
                <a:lnTo>
                  <a:pt x="4626150" y="2891344"/>
                </a:lnTo>
                <a:lnTo>
                  <a:pt x="0" y="2891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215646" y="3705291"/>
            <a:ext cx="10216067" cy="2270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1"/>
              </a:lnSpc>
            </a:pPr>
            <a:r>
              <a:rPr lang="en-US" sz="1455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88324" y="9094024"/>
            <a:ext cx="6331060" cy="96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3"/>
              </a:lnSpc>
              <a:spcBef>
                <a:spcPct val="0"/>
              </a:spcBef>
            </a:pPr>
            <a:r>
              <a:rPr lang="en-US" sz="543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629</Words>
  <Application>Microsoft Office PowerPoint</Application>
  <PresentationFormat>Custom</PresentationFormat>
  <Paragraphs>85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Times New Roman</vt:lpstr>
      <vt:lpstr>Calibri</vt:lpstr>
      <vt:lpstr>Arial</vt:lpstr>
      <vt:lpstr>Times New Roman Bold</vt:lpstr>
      <vt:lpstr>Office Theme</vt:lpstr>
      <vt:lpstr>Worksheet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Gr-10-WPSRPUMASMA</dc:title>
  <cp:lastModifiedBy>Sumit Sharma</cp:lastModifiedBy>
  <cp:revision>2</cp:revision>
  <dcterms:created xsi:type="dcterms:W3CDTF">2006-08-16T00:00:00Z</dcterms:created>
  <dcterms:modified xsi:type="dcterms:W3CDTF">2026-10-22T05:27:38Z</dcterms:modified>
  <dc:identifier>DAHXrO7XCfg</dc:identifier>
</cp:coreProperties>
</file>